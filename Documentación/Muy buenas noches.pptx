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lay"/>
      <p:regular r:id="rId22"/>
      <p:bold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4A9D9D-5B98-4988-80A3-B069CCCA7350}">
  <a:tblStyle styleId="{5C4A9D9D-5B98-4988-80A3-B069CCCA73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regular.fntdata"/><Relationship Id="rId21" Type="http://schemas.openxmlformats.org/officeDocument/2006/relationships/slide" Target="slides/slide16.xml"/><Relationship Id="rId24" Type="http://schemas.openxmlformats.org/officeDocument/2006/relationships/font" Target="fonts/Oswald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fb09e4e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cfb09e4e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f961a6c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cf961a6c2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5eb7839e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5eb7839ee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5eb7839e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5eb7839e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5eb7839e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5eb7839ee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5eb7839e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5eb7839e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E3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18231" l="0" r="0" t="6776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>
            <p:ph type="ctrTitle"/>
          </p:nvPr>
        </p:nvSpPr>
        <p:spPr>
          <a:xfrm>
            <a:off x="461923" y="2124254"/>
            <a:ext cx="4172758" cy="1871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b="1" lang="es-CO" sz="6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Muy buenas </a:t>
            </a:r>
            <a:r>
              <a:rPr b="1" lang="es-CO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noches.</a:t>
            </a:r>
            <a:endParaRPr b="1" sz="6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05275" y="4534350"/>
            <a:ext cx="34662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O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Angie Paola Jaramillo.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O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Daniel León Danzo.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CO" sz="3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Angee Ocampo Ramírez</a:t>
            </a:r>
            <a:endParaRPr sz="3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4"/>
          <p:cNvGrpSpPr/>
          <p:nvPr/>
        </p:nvGrpSpPr>
        <p:grpSpPr>
          <a:xfrm>
            <a:off x="-201638" y="5166634"/>
            <a:ext cx="2113828" cy="1790507"/>
            <a:chOff x="8925025" y="4213585"/>
            <a:chExt cx="3968886" cy="2791561"/>
          </a:xfrm>
        </p:grpSpPr>
        <p:pic>
          <p:nvPicPr>
            <p:cNvPr id="92" name="Google Shape;92;p14"/>
            <p:cNvPicPr preferRelativeResize="0"/>
            <p:nvPr/>
          </p:nvPicPr>
          <p:blipFill rotWithShape="1">
            <a:blip r:embed="rId3">
              <a:alphaModFix/>
            </a:blip>
            <a:srcRect b="28024" l="26041" r="61509" t="59794"/>
            <a:stretch/>
          </p:blipFill>
          <p:spPr>
            <a:xfrm>
              <a:off x="8925025" y="5216424"/>
              <a:ext cx="3968886" cy="1788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4"/>
            <p:cNvPicPr preferRelativeResize="0"/>
            <p:nvPr/>
          </p:nvPicPr>
          <p:blipFill rotWithShape="1">
            <a:blip r:embed="rId4">
              <a:alphaModFix/>
            </a:blip>
            <a:srcRect b="38743" l="20774" r="11954" t="27166"/>
            <a:stretch/>
          </p:blipFill>
          <p:spPr>
            <a:xfrm>
              <a:off x="9611586" y="4213585"/>
              <a:ext cx="2422187" cy="21431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" name="Google Shape;9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8700" y="1309325"/>
            <a:ext cx="3529679" cy="3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9950" y="1309328"/>
            <a:ext cx="3529675" cy="326982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65625" y="4579153"/>
            <a:ext cx="517830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 la población mundial reporta dificultades para dormir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5854388" y="4579153"/>
            <a:ext cx="517830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 los colombianos presenta insomnio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8" name="Google Shape;98;p14"/>
          <p:cNvSpPr txBox="1"/>
          <p:nvPr>
            <p:ph type="title"/>
          </p:nvPr>
        </p:nvSpPr>
        <p:spPr>
          <a:xfrm>
            <a:off x="3731594" y="307342"/>
            <a:ext cx="44688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CO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MOTIVACIÓN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7483" y="1424165"/>
            <a:ext cx="2832225" cy="4278610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sp>
        <p:nvSpPr>
          <p:cNvPr id="104" name="Google Shape;104;p15"/>
          <p:cNvSpPr txBox="1"/>
          <p:nvPr>
            <p:ph type="title"/>
          </p:nvPr>
        </p:nvSpPr>
        <p:spPr>
          <a:xfrm>
            <a:off x="3731594" y="307342"/>
            <a:ext cx="4468774" cy="975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CO" sz="6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MOTIVACIÓN</a:t>
            </a:r>
            <a:endParaRPr sz="6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49208" y="5716529"/>
            <a:ext cx="4468774" cy="975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"/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Problemas de sueño en la población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965981" y="5716529"/>
            <a:ext cx="4468774" cy="474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"/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Deterioro físico y mental.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51138" t="0"/>
          <a:stretch/>
        </p:blipFill>
        <p:spPr>
          <a:xfrm>
            <a:off x="6178824" y="1424165"/>
            <a:ext cx="4043087" cy="4137211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5">
            <a:alphaModFix/>
          </a:blip>
          <a:srcRect b="22656" l="0" r="0" t="0"/>
          <a:stretch/>
        </p:blipFill>
        <p:spPr>
          <a:xfrm>
            <a:off x="9409614" y="3995267"/>
            <a:ext cx="2782386" cy="286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CO" sz="6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IDENTIFICACIÓN DEL PROBLEMA</a:t>
            </a:r>
            <a:endParaRPr sz="6000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14" name="Google Shape;114;p16"/>
          <p:cNvGrpSpPr/>
          <p:nvPr/>
        </p:nvGrpSpPr>
        <p:grpSpPr>
          <a:xfrm>
            <a:off x="-201485" y="4634947"/>
            <a:ext cx="2741706" cy="2322300"/>
            <a:chOff x="8925025" y="4213585"/>
            <a:chExt cx="3968886" cy="2791561"/>
          </a:xfrm>
        </p:grpSpPr>
        <p:pic>
          <p:nvPicPr>
            <p:cNvPr id="115" name="Google Shape;115;p16"/>
            <p:cNvPicPr preferRelativeResize="0"/>
            <p:nvPr/>
          </p:nvPicPr>
          <p:blipFill rotWithShape="1">
            <a:blip r:embed="rId3">
              <a:alphaModFix/>
            </a:blip>
            <a:srcRect b="28024" l="26041" r="61509" t="59794"/>
            <a:stretch/>
          </p:blipFill>
          <p:spPr>
            <a:xfrm>
              <a:off x="8925025" y="5216424"/>
              <a:ext cx="3968886" cy="1788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6"/>
            <p:cNvPicPr preferRelativeResize="0"/>
            <p:nvPr/>
          </p:nvPicPr>
          <p:blipFill rotWithShape="1">
            <a:blip r:embed="rId4">
              <a:alphaModFix/>
            </a:blip>
            <a:srcRect b="38742" l="20773" r="11953" t="27168"/>
            <a:stretch/>
          </p:blipFill>
          <p:spPr>
            <a:xfrm>
              <a:off x="9611586" y="4213585"/>
              <a:ext cx="2422187" cy="2143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1264370" y="4911366"/>
            <a:ext cx="9663260" cy="1246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La ausencia de hábitos de sueño adecuados y condiciones ambientales desfavorables que afectan la calidad del descanso.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3064" y="1585550"/>
            <a:ext cx="5002100" cy="3430954"/>
          </a:xfrm>
          <a:prstGeom prst="ellipse">
            <a:avLst/>
          </a:prstGeom>
          <a:noFill/>
          <a:ln>
            <a:noFill/>
          </a:ln>
          <a:effectLst>
            <a:outerShdw blurRad="381000" sx="-80000" rotWithShape="0" dir="5400000" dist="292100" sy="-18000">
              <a:srgbClr val="000000">
                <a:alpha val="2196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838200" y="2396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"/>
              <a:buNone/>
            </a:pPr>
            <a:r>
              <a:rPr lang="es-CO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PROPUESTA DE SOLUCIÓN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650" y="2691175"/>
            <a:ext cx="4824424" cy="26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838200" y="2440275"/>
            <a:ext cx="53385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• Monitoreo del entorno del dormitorio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• Automatización de iluminación para simular el amanecer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• Alarma programada mediante buzzer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• Dashboard y notificaciones al usuario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976675" y="1565375"/>
            <a:ext cx="103770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Sistema IoT para apoyar la higiene del sueño mediante: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838200" y="142100"/>
            <a:ext cx="105156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s-CO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ARQUITECTURA DEL SISTEMA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894875" y="1678272"/>
            <a:ext cx="2915700" cy="415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566637" y="1678272"/>
            <a:ext cx="2915700" cy="415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8238399" y="1678200"/>
            <a:ext cx="2915700" cy="415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1159725" y="1943100"/>
            <a:ext cx="23697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Sensores: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Sensor de iluminación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Sensor de temperatura y humedad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Sensor de ruido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Actuadores: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Lámpara de iluminación gradual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Buzzer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735875" y="981375"/>
            <a:ext cx="32337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60"/>
              <a:buFont typeface="Play"/>
              <a:buNone/>
            </a:pPr>
            <a:r>
              <a:rPr lang="es-CO" sz="306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Capa de percepción</a:t>
            </a:r>
            <a:endParaRPr sz="306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4328113" y="981375"/>
            <a:ext cx="32337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60"/>
              <a:buFont typeface="Play"/>
              <a:buNone/>
            </a:pPr>
            <a:r>
              <a:rPr lang="es-CO" sz="306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Capa de red</a:t>
            </a:r>
            <a:endParaRPr sz="306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18"/>
          <p:cNvSpPr txBox="1"/>
          <p:nvPr>
            <p:ph type="title"/>
          </p:nvPr>
        </p:nvSpPr>
        <p:spPr>
          <a:xfrm>
            <a:off x="8079363" y="1091975"/>
            <a:ext cx="32337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60"/>
              <a:buFont typeface="Play"/>
              <a:buNone/>
            </a:pPr>
            <a:r>
              <a:rPr lang="es-CO" sz="306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Capa de aplicaci</a:t>
            </a:r>
            <a:r>
              <a:rPr lang="es-CO" sz="306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ón</a:t>
            </a:r>
            <a:endParaRPr sz="306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4839638" y="1977975"/>
            <a:ext cx="23697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Comunicación Wi-Fi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Protocolo MQTT sobre TLS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8519513" y="1977900"/>
            <a:ext cx="23697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Servidor local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Base de datos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Dashboard de visualización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●"/>
            </a:pPr>
            <a:r>
              <a:rPr lang="es-CO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Aplicación móvil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838200" y="0"/>
            <a:ext cx="105156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s-CO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MODELO DE PROCESOS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6" name="Google Shape;146;p19" title="diagrama_modelo_proceso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3125" y="1165825"/>
            <a:ext cx="7245750" cy="5415650"/>
          </a:xfrm>
          <a:prstGeom prst="rect">
            <a:avLst/>
          </a:prstGeom>
          <a:noFill/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838200" y="197100"/>
            <a:ext cx="105156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s-CO" sz="4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MODELO DE DOMINIO</a:t>
            </a:r>
            <a:endParaRPr sz="49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2" name="Google Shape;152;p20" title="Diagrama Dominio - IoT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275" y="1294163"/>
            <a:ext cx="7013449" cy="5246475"/>
          </a:xfrm>
          <a:prstGeom prst="rect">
            <a:avLst/>
          </a:prstGeom>
          <a:noFill/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838200" y="365125"/>
            <a:ext cx="105156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s-CO" sz="5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NIVEL DE IOT</a:t>
            </a:r>
            <a:endParaRPr sz="5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58" name="Google Shape;158;p21" title="Diagrama Nivel IoT.drawio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206" y="1804401"/>
            <a:ext cx="9067571" cy="4226000"/>
          </a:xfrm>
          <a:prstGeom prst="rect">
            <a:avLst/>
          </a:prstGeom>
          <a:noFill/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502175" y="2323200"/>
            <a:ext cx="5549400" cy="27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3333"/>
              <a:buFont typeface="Play"/>
              <a:buNone/>
            </a:pPr>
            <a:r>
              <a:rPr lang="es-CO" sz="6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ESPECIFICACIONES DESDE EL PUNTO DE </a:t>
            </a:r>
            <a:r>
              <a:rPr lang="es-CO" sz="6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VISTA OPERACIONAL.</a:t>
            </a:r>
            <a:endParaRPr sz="60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 b="0" l="9691" r="13880" t="0"/>
          <a:stretch/>
        </p:blipFill>
        <p:spPr>
          <a:xfrm>
            <a:off x="6295925" y="1030875"/>
            <a:ext cx="5452800" cy="535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2230200" y="712025"/>
            <a:ext cx="773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O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Service Hosting Options</a:t>
            </a:r>
            <a:endParaRPr sz="4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5837700" y="2340475"/>
            <a:ext cx="6033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Char char="●"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ESP32 → Adquisición de datos y control de actuador.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Char char="●"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Raspberry Pi 5 → Gateway de comunicación y procesamiento.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Char char="●"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Aplicación móvil → Monitoreo y notificaciones.</a:t>
            </a:r>
            <a:endParaRPr sz="3000"/>
          </a:p>
        </p:txBody>
      </p:sp>
      <p:pic>
        <p:nvPicPr>
          <p:cNvPr id="171" name="Google Shape;171;p23"/>
          <p:cNvPicPr preferRelativeResize="0"/>
          <p:nvPr/>
        </p:nvPicPr>
        <p:blipFill rotWithShape="1">
          <a:blip r:embed="rId3">
            <a:alphaModFix/>
          </a:blip>
          <a:srcRect b="5060" l="13502" r="14680" t="0"/>
          <a:stretch/>
        </p:blipFill>
        <p:spPr>
          <a:xfrm>
            <a:off x="766750" y="1750750"/>
            <a:ext cx="5070950" cy="44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/>
        </p:nvSpPr>
        <p:spPr>
          <a:xfrm>
            <a:off x="3062550" y="602925"/>
            <a:ext cx="606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O" sz="4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Storage Options</a:t>
            </a:r>
            <a:endParaRPr sz="4800"/>
          </a:p>
        </p:txBody>
      </p:sp>
      <p:sp>
        <p:nvSpPr>
          <p:cNvPr id="177" name="Google Shape;177;p24"/>
          <p:cNvSpPr txBox="1"/>
          <p:nvPr/>
        </p:nvSpPr>
        <p:spPr>
          <a:xfrm>
            <a:off x="6201175" y="2995250"/>
            <a:ext cx="5562900" cy="2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Almacenamiento local en Raspberry Pi mediante SQLite para operación offline, histórico y análisis avanzado.</a:t>
            </a:r>
            <a:endParaRPr sz="3000"/>
          </a:p>
        </p:txBody>
      </p:sp>
      <p:grpSp>
        <p:nvGrpSpPr>
          <p:cNvPr id="178" name="Google Shape;178;p24"/>
          <p:cNvGrpSpPr/>
          <p:nvPr/>
        </p:nvGrpSpPr>
        <p:grpSpPr>
          <a:xfrm>
            <a:off x="1118050" y="2584300"/>
            <a:ext cx="4643400" cy="2492700"/>
            <a:chOff x="1240250" y="2523200"/>
            <a:chExt cx="4643400" cy="2492700"/>
          </a:xfrm>
        </p:grpSpPr>
        <p:sp>
          <p:nvSpPr>
            <p:cNvPr id="179" name="Google Shape;179;p24"/>
            <p:cNvSpPr/>
            <p:nvPr/>
          </p:nvSpPr>
          <p:spPr>
            <a:xfrm>
              <a:off x="1240250" y="2523200"/>
              <a:ext cx="4643400" cy="2492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" name="Google Shape;180;p24"/>
            <p:cNvPicPr preferRelativeResize="0"/>
            <p:nvPr/>
          </p:nvPicPr>
          <p:blipFill rotWithShape="1">
            <a:blip r:embed="rId3">
              <a:alphaModFix/>
            </a:blip>
            <a:srcRect b="19285" l="13901" r="14594" t="17632"/>
            <a:stretch/>
          </p:blipFill>
          <p:spPr>
            <a:xfrm>
              <a:off x="1393050" y="2692725"/>
              <a:ext cx="4337800" cy="2153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24"/>
          <p:cNvGrpSpPr/>
          <p:nvPr/>
        </p:nvGrpSpPr>
        <p:grpSpPr>
          <a:xfrm>
            <a:off x="9129450" y="235223"/>
            <a:ext cx="2757750" cy="2018655"/>
            <a:chOff x="9129450" y="235223"/>
            <a:chExt cx="2757750" cy="2018655"/>
          </a:xfrm>
        </p:grpSpPr>
        <p:pic>
          <p:nvPicPr>
            <p:cNvPr id="182" name="Google Shape;18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129450" y="503700"/>
              <a:ext cx="2757750" cy="1750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24"/>
            <p:cNvPicPr preferRelativeResize="0"/>
            <p:nvPr/>
          </p:nvPicPr>
          <p:blipFill rotWithShape="1">
            <a:blip r:embed="rId5">
              <a:alphaModFix/>
            </a:blip>
            <a:srcRect b="23521" l="23835" r="15471" t="21855"/>
            <a:stretch/>
          </p:blipFill>
          <p:spPr>
            <a:xfrm>
              <a:off x="9885410" y="235223"/>
              <a:ext cx="1303000" cy="1172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/>
          <p:cNvPicPr preferRelativeResize="0"/>
          <p:nvPr/>
        </p:nvPicPr>
        <p:blipFill rotWithShape="1">
          <a:blip r:embed="rId3">
            <a:alphaModFix/>
          </a:blip>
          <a:srcRect b="12342" l="0" r="0" t="0"/>
          <a:stretch/>
        </p:blipFill>
        <p:spPr>
          <a:xfrm>
            <a:off x="9028782" y="1549650"/>
            <a:ext cx="3531793" cy="549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3788100" y="626250"/>
            <a:ext cx="461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O" sz="4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Device Options</a:t>
            </a:r>
            <a:endParaRPr sz="4800"/>
          </a:p>
        </p:txBody>
      </p:sp>
      <p:sp>
        <p:nvSpPr>
          <p:cNvPr id="190" name="Google Shape;190;p25"/>
          <p:cNvSpPr txBox="1"/>
          <p:nvPr/>
        </p:nvSpPr>
        <p:spPr>
          <a:xfrm>
            <a:off x="6158475" y="3092425"/>
            <a:ext cx="5391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Char char="●"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ESP32.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19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Char char="●"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Raspberry pi 5.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19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Char char="●"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Sensores digitales.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-4191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Char char="●"/>
            </a:pP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Tira LED + Buzzer.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4">
            <a:alphaModFix/>
          </a:blip>
          <a:srcRect b="8988" l="0" r="1865" t="9889"/>
          <a:stretch/>
        </p:blipFill>
        <p:spPr>
          <a:xfrm>
            <a:off x="1191025" y="2307750"/>
            <a:ext cx="4356475" cy="36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1558050" y="870625"/>
            <a:ext cx="907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O" sz="4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Application Hosting Options</a:t>
            </a:r>
            <a:endParaRPr sz="4800"/>
          </a:p>
        </p:txBody>
      </p:sp>
      <p:sp>
        <p:nvSpPr>
          <p:cNvPr id="197" name="Google Shape;197;p26"/>
          <p:cNvSpPr txBox="1"/>
          <p:nvPr/>
        </p:nvSpPr>
        <p:spPr>
          <a:xfrm>
            <a:off x="6173750" y="2795125"/>
            <a:ext cx="51354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Aplicación móvil</a:t>
            </a: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para monitoreo y notificaciones. </a:t>
            </a:r>
            <a:r>
              <a:rPr b="1"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Dashboard local en Raspberry Pi</a:t>
            </a:r>
            <a:r>
              <a:rPr lang="es-CO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para la visualización y monitoreo.</a:t>
            </a:r>
            <a:endParaRPr sz="3000"/>
          </a:p>
        </p:txBody>
      </p:sp>
      <p:pic>
        <p:nvPicPr>
          <p:cNvPr id="198" name="Google Shape;198;p26"/>
          <p:cNvPicPr preferRelativeResize="0"/>
          <p:nvPr/>
        </p:nvPicPr>
        <p:blipFill rotWithShape="1">
          <a:blip r:embed="rId3">
            <a:alphaModFix/>
          </a:blip>
          <a:srcRect b="24914" l="18366" r="14556" t="27267"/>
          <a:stretch/>
        </p:blipFill>
        <p:spPr>
          <a:xfrm>
            <a:off x="1026400" y="2795125"/>
            <a:ext cx="4434875" cy="31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6"/>
          <p:cNvPicPr preferRelativeResize="0"/>
          <p:nvPr/>
        </p:nvPicPr>
        <p:blipFill rotWithShape="1">
          <a:blip r:embed="rId4">
            <a:alphaModFix/>
          </a:blip>
          <a:srcRect b="41000" l="31671" r="30688" t="30500"/>
          <a:stretch/>
        </p:blipFill>
        <p:spPr>
          <a:xfrm>
            <a:off x="2214820" y="3443151"/>
            <a:ext cx="274320" cy="27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/>
          <p:cNvPicPr preferRelativeResize="0"/>
          <p:nvPr/>
        </p:nvPicPr>
        <p:blipFill rotWithShape="1">
          <a:blip r:embed="rId4">
            <a:alphaModFix/>
          </a:blip>
          <a:srcRect b="41000" l="31671" r="30688" t="30500"/>
          <a:stretch/>
        </p:blipFill>
        <p:spPr>
          <a:xfrm>
            <a:off x="3534352" y="3061571"/>
            <a:ext cx="378825" cy="38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6"/>
          <p:cNvPicPr preferRelativeResize="0"/>
          <p:nvPr/>
        </p:nvPicPr>
        <p:blipFill rotWithShape="1">
          <a:blip r:embed="rId4">
            <a:alphaModFix/>
          </a:blip>
          <a:srcRect b="41000" l="31671" r="30688" t="30500"/>
          <a:stretch/>
        </p:blipFill>
        <p:spPr>
          <a:xfrm>
            <a:off x="2277956" y="4525738"/>
            <a:ext cx="610206" cy="61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/>
          <p:cNvPicPr preferRelativeResize="0"/>
          <p:nvPr/>
        </p:nvPicPr>
        <p:blipFill rotWithShape="1">
          <a:blip r:embed="rId4">
            <a:alphaModFix/>
          </a:blip>
          <a:srcRect b="41000" l="31671" r="30688" t="30500"/>
          <a:stretch/>
        </p:blipFill>
        <p:spPr>
          <a:xfrm>
            <a:off x="1404977" y="3997393"/>
            <a:ext cx="378825" cy="38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7" title="Diagrama_Integracion_Disp_Com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355" y="1594975"/>
            <a:ext cx="10233326" cy="41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>
            <p:ph type="title"/>
          </p:nvPr>
        </p:nvSpPr>
        <p:spPr>
          <a:xfrm>
            <a:off x="887825" y="77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s-CO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INTEGRACIÓN DE DISPOSITIVOS Y COMPONENTES.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09" name="Google Shape;209;p27"/>
          <p:cNvGrpSpPr/>
          <p:nvPr/>
        </p:nvGrpSpPr>
        <p:grpSpPr>
          <a:xfrm>
            <a:off x="9604447" y="3409899"/>
            <a:ext cx="2903609" cy="3567449"/>
            <a:chOff x="9349126" y="3096512"/>
            <a:chExt cx="3158500" cy="3880614"/>
          </a:xfrm>
        </p:grpSpPr>
        <p:pic>
          <p:nvPicPr>
            <p:cNvPr id="210" name="Google Shape;210;p27"/>
            <p:cNvPicPr preferRelativeResize="0"/>
            <p:nvPr/>
          </p:nvPicPr>
          <p:blipFill rotWithShape="1">
            <a:blip r:embed="rId4">
              <a:alphaModFix/>
            </a:blip>
            <a:srcRect b="28024" l="26041" r="61509" t="59794"/>
            <a:stretch/>
          </p:blipFill>
          <p:spPr>
            <a:xfrm>
              <a:off x="9349126" y="5262876"/>
              <a:ext cx="3158500" cy="1714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7" title="Gemini_Generated_Image_mj58ijmj58ijmj58-removebg-preview.png"/>
            <p:cNvPicPr preferRelativeResize="0"/>
            <p:nvPr/>
          </p:nvPicPr>
          <p:blipFill rotWithShape="1">
            <a:blip r:embed="rId5">
              <a:alphaModFix/>
            </a:blip>
            <a:srcRect b="24125" l="24011" r="19534" t="33588"/>
            <a:stretch/>
          </p:blipFill>
          <p:spPr>
            <a:xfrm>
              <a:off x="9888896" y="3096512"/>
              <a:ext cx="2402350" cy="3195749"/>
            </a:xfrm>
            <a:prstGeom prst="rect">
              <a:avLst/>
            </a:prstGeom>
            <a:noFill/>
            <a:ln>
              <a:noFill/>
            </a:ln>
            <a:effectLst>
              <a:outerShdw blurRad="722371" rotWithShape="0" algn="bl" dist="8756">
                <a:srgbClr val="FFF2CC">
                  <a:alpha val="51000"/>
                </a:srgbClr>
              </a:outerShdw>
            </a:effectLst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838200" y="146800"/>
            <a:ext cx="10515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s-CO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CRONOGRAMA DE EJECUCIÓN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7" name="Google Shape;217;p28" title="Gemini_Generated_Image_wrkomzwrkomzwrko-removebg-preview.png"/>
          <p:cNvPicPr preferRelativeResize="0"/>
          <p:nvPr/>
        </p:nvPicPr>
        <p:blipFill rotWithShape="1">
          <a:blip r:embed="rId3">
            <a:alphaModFix/>
          </a:blip>
          <a:srcRect b="29395" l="0" r="0" t="27024"/>
          <a:stretch/>
        </p:blipFill>
        <p:spPr>
          <a:xfrm>
            <a:off x="10204000" y="5148100"/>
            <a:ext cx="2508575" cy="1908900"/>
          </a:xfrm>
          <a:prstGeom prst="rect">
            <a:avLst/>
          </a:prstGeom>
          <a:noFill/>
          <a:ln>
            <a:noFill/>
          </a:ln>
          <a:effectLst>
            <a:outerShdw blurRad="785813" rotWithShape="0" algn="bl" dist="9525">
              <a:srgbClr val="FFF2CC">
                <a:alpha val="51000"/>
              </a:srgbClr>
            </a:outerShdw>
          </a:effectLst>
        </p:spPr>
      </p:pic>
      <p:graphicFrame>
        <p:nvGraphicFramePr>
          <p:cNvPr id="218" name="Google Shape;218;p28"/>
          <p:cNvGraphicFramePr/>
          <p:nvPr/>
        </p:nvGraphicFramePr>
        <p:xfrm>
          <a:off x="755925" y="129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{5C4A9D9D-5B98-4988-80A3-B069CCCA7350}</a:tableStyleId>
              </a:tblPr>
              <a:tblGrid>
                <a:gridCol w="4004675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MESES</a:t>
                      </a:r>
                      <a:endParaRPr b="1"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ACTIVIDAD</a:t>
                      </a:r>
                      <a:endParaRPr b="1"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MES 1</a:t>
                      </a:r>
                      <a:endParaRPr b="1"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MES 2</a:t>
                      </a:r>
                      <a:endParaRPr b="1"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MES 3</a:t>
                      </a:r>
                      <a:endParaRPr b="1"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MES 4</a:t>
                      </a:r>
                      <a:endParaRPr b="1"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Preparación y diseño</a:t>
                      </a:r>
                      <a:endParaRPr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highlight>
                          <a:srgbClr val="F4CCCC"/>
                        </a:highlight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highlight>
                          <a:srgbClr val="F4CCCC"/>
                        </a:highlight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highlight>
                          <a:srgbClr val="F4CCCC"/>
                        </a:highlight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highlight>
                          <a:srgbClr val="F4CCCC"/>
                        </a:highlight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Integración de hardware y sensores</a:t>
                      </a:r>
                      <a:endParaRPr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Conectividad y almacenamiento</a:t>
                      </a:r>
                      <a:endParaRPr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 Interfaz y visualización</a:t>
                      </a:r>
                      <a:endParaRPr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Integración total y pruebas</a:t>
                      </a:r>
                      <a:endParaRPr b="1"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Validación y mejoras</a:t>
                      </a:r>
                      <a:endParaRPr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Documentación y entrega</a:t>
                      </a:r>
                      <a:endParaRPr sz="20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91425" marB="91425" marR="91425" marL="91425">
                    <a:solidFill>
                      <a:srgbClr val="D5A6B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